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73" r:id="rId5"/>
    <p:sldId id="259" r:id="rId6"/>
    <p:sldId id="260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725"/>
    <p:restoredTop sz="94672"/>
  </p:normalViewPr>
  <p:slideViewPr>
    <p:cSldViewPr snapToGrid="0" snapToObjects="1">
      <p:cViewPr varScale="1">
        <p:scale>
          <a:sx n="99" d="100"/>
          <a:sy n="99" d="100"/>
        </p:scale>
        <p:origin x="1792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200">
                <a:solidFill>
                  <a:srgbClr val="FFFFFF"/>
                </a:solidFill>
              </a:rPr>
              <a:t>KubeCon India 2026 Highlights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800"/>
            </a:pPr>
            <a:r>
              <a:rPr lang="en-US" sz="2200" b="1" dirty="0">
                <a:solidFill>
                  <a:srgbClr val="FFFFFF"/>
                </a:solidFill>
              </a:rPr>
              <a:t>Jaydipsinh Jadeja</a:t>
            </a:r>
            <a:br>
              <a:rPr lang="en-US" b="1" dirty="0"/>
            </a:br>
            <a:endParaRPr lang="en-US" b="1" dirty="0"/>
          </a:p>
          <a:p>
            <a:pPr>
              <a:defRPr sz="2800"/>
            </a:pPr>
            <a:r>
              <a:rPr lang="en-US" sz="2200" b="1" dirty="0">
                <a:solidFill>
                  <a:srgbClr val="FFFFFF"/>
                </a:solidFill>
              </a:rPr>
              <a:t>Platform Engineer @ Acoustic</a:t>
            </a:r>
            <a:endParaRPr b="1" dirty="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30000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200"/>
            </a:pPr>
            <a:r>
              <a:rPr lang="en-US" sz="2200" dirty="0">
                <a:solidFill>
                  <a:srgbClr val="FFFFFF"/>
                </a:solidFill>
              </a:rPr>
              <a:t>• What is </a:t>
            </a:r>
            <a:r>
              <a:rPr lang="en-US" sz="2200" dirty="0" err="1">
                <a:solidFill>
                  <a:srgbClr val="FFFFFF"/>
                </a:solidFill>
              </a:rPr>
              <a:t>KubeCon</a:t>
            </a:r>
            <a:r>
              <a:rPr lang="en-US" sz="2200" dirty="0">
                <a:solidFill>
                  <a:srgbClr val="FFFFFF"/>
                </a:solidFill>
              </a:rPr>
              <a:t>?</a:t>
            </a:r>
          </a:p>
          <a:p>
            <a:pPr marL="0" indent="0">
              <a:buNone/>
              <a:defRPr sz="2200"/>
            </a:pPr>
            <a:r>
              <a:rPr sz="2200" dirty="0">
                <a:solidFill>
                  <a:srgbClr val="FFFFFF"/>
                </a:solidFill>
              </a:rPr>
              <a:t>• AI + Cloud Native</a:t>
            </a:r>
            <a:endParaRPr lang="en-US" dirty="0"/>
          </a:p>
          <a:p>
            <a:pPr marL="0" indent="0">
              <a:buNone/>
              <a:defRPr sz="2200"/>
            </a:pPr>
            <a:r>
              <a:rPr lang="en-US" sz="2200" dirty="0">
                <a:solidFill>
                  <a:srgbClr val="FFFFFF"/>
                </a:solidFill>
              </a:rPr>
              <a:t>• LLM Inference</a:t>
            </a:r>
          </a:p>
          <a:p>
            <a:pPr marL="0" indent="0">
              <a:buNone/>
              <a:defRPr sz="2200"/>
            </a:pPr>
            <a:r>
              <a:rPr sz="2200" dirty="0">
                <a:solidFill>
                  <a:srgbClr val="FFFFFF"/>
                </a:solidFill>
              </a:rPr>
              <a:t>• Platform Engineering</a:t>
            </a:r>
          </a:p>
          <a:p>
            <a:pPr marL="0" indent="0">
              <a:buNone/>
              <a:defRPr sz="2200"/>
            </a:pPr>
            <a:r>
              <a:rPr sz="2200" dirty="0">
                <a:solidFill>
                  <a:srgbClr val="FFFFFF"/>
                </a:solidFill>
              </a:rPr>
              <a:t>• Policy as Code</a:t>
            </a:r>
          </a:p>
          <a:p>
            <a:pPr marL="0" indent="0">
              <a:buNone/>
              <a:defRPr sz="2200"/>
            </a:pPr>
            <a:r>
              <a:rPr sz="2200" dirty="0">
                <a:solidFill>
                  <a:srgbClr val="FFFFFF"/>
                </a:solidFill>
              </a:rPr>
              <a:t>• Chaos Engineering</a:t>
            </a:r>
          </a:p>
          <a:p>
            <a:pPr marL="0" indent="0">
              <a:buNone/>
              <a:defRPr sz="2200"/>
            </a:pPr>
            <a:r>
              <a:rPr sz="2200" dirty="0">
                <a:solidFill>
                  <a:srgbClr val="FFFFFF"/>
                </a:solidFill>
              </a:rPr>
              <a:t>• Key Trends</a:t>
            </a:r>
          </a:p>
          <a:p>
            <a:pPr marL="0" indent="0">
              <a:buNone/>
              <a:defRPr sz="2200"/>
            </a:pPr>
            <a:r>
              <a:rPr sz="2200" dirty="0">
                <a:solidFill>
                  <a:srgbClr val="FFFFFF"/>
                </a:solidFill>
              </a:rPr>
              <a:t>• Takeaways</a:t>
            </a:r>
          </a:p>
          <a:p>
            <a:pPr marL="0" indent="0">
              <a:buNone/>
              <a:defRPr sz="2200"/>
            </a:pPr>
            <a:r>
              <a:rPr sz="2200" dirty="0">
                <a:solidFill>
                  <a:srgbClr val="FFFFFF"/>
                </a:solidFill>
              </a:rPr>
              <a:t>• Q&amp;A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30000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>
                <a:solidFill>
                  <a:srgbClr val="FFFFFF"/>
                </a:solidFill>
              </a:rPr>
              <a:t>What is KubeCon?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sz="2200">
                <a:solidFill>
                  <a:srgbClr val="FFFFFF"/>
                </a:solidFill>
              </a:rPr>
              <a:t>• CNCF's flagship conference</a:t>
            </a:r>
          </a:p>
          <a:p>
            <a:pPr>
              <a:defRPr sz="2200"/>
            </a:pPr>
            <a:r>
              <a:rPr sz="2200">
                <a:solidFill>
                  <a:srgbClr val="FFFFFF"/>
                </a:solidFill>
              </a:rPr>
              <a:t>• Open source community</a:t>
            </a:r>
          </a:p>
          <a:p>
            <a:pPr>
              <a:defRPr sz="2200"/>
            </a:pPr>
            <a:r>
              <a:rPr sz="2200">
                <a:solidFill>
                  <a:srgbClr val="FFFFFF"/>
                </a:solidFill>
              </a:rPr>
              <a:t>• Kubernetes ecosystem</a:t>
            </a:r>
          </a:p>
          <a:p>
            <a:pPr>
              <a:defRPr sz="2200"/>
            </a:pPr>
            <a:r>
              <a:rPr sz="2200">
                <a:solidFill>
                  <a:srgbClr val="FFFFFF"/>
                </a:solidFill>
              </a:rPr>
              <a:t>• Latest cloud-native innovations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30000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1996A-CC7B-F906-4EB2-9483D2FB5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85A46A-37BE-05E6-7DBC-A8D66B7833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0993BF1-89BE-7DE1-6AEA-8B237374C5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31" y="77273"/>
            <a:ext cx="8886423" cy="666481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144000" cy="30000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9358491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>
                <a:solidFill>
                  <a:srgbClr val="FFFFFF"/>
                </a:solidFill>
              </a:rPr>
              <a:t>Biggest Themes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200"/>
            </a:pPr>
            <a:r>
              <a:rPr sz="2200" dirty="0">
                <a:solidFill>
                  <a:srgbClr val="FFFFFF"/>
                </a:solidFill>
              </a:rPr>
              <a:t>• AI Infrastructure</a:t>
            </a:r>
          </a:p>
          <a:p>
            <a:pPr marL="0" indent="0">
              <a:buNone/>
              <a:defRPr sz="2200"/>
            </a:pPr>
            <a:r>
              <a:rPr sz="2200" dirty="0">
                <a:solidFill>
                  <a:srgbClr val="FFFFFF"/>
                </a:solidFill>
              </a:rPr>
              <a:t>• Platform Engineering</a:t>
            </a:r>
          </a:p>
          <a:p>
            <a:pPr marL="0" indent="0">
              <a:buNone/>
              <a:defRPr sz="2200"/>
            </a:pPr>
            <a:r>
              <a:rPr sz="2200" dirty="0">
                <a:solidFill>
                  <a:srgbClr val="FFFFFF"/>
                </a:solidFill>
              </a:rPr>
              <a:t>• Security &amp; Governance</a:t>
            </a:r>
          </a:p>
          <a:p>
            <a:pPr marL="0" indent="0">
              <a:buNone/>
              <a:defRPr sz="2200"/>
            </a:pPr>
            <a:r>
              <a:rPr sz="2200" dirty="0">
                <a:solidFill>
                  <a:srgbClr val="FFFFFF"/>
                </a:solidFill>
              </a:rPr>
              <a:t>• Reliability</a:t>
            </a:r>
          </a:p>
          <a:p>
            <a:pPr marL="0" indent="0">
              <a:buNone/>
              <a:defRPr sz="2200"/>
            </a:pPr>
            <a:r>
              <a:rPr sz="2200" dirty="0">
                <a:solidFill>
                  <a:srgbClr val="FFFFFF"/>
                </a:solidFill>
              </a:rPr>
              <a:t>• Developer Experience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30000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>
                <a:solidFill>
                  <a:srgbClr val="FFFFFF"/>
                </a:solidFill>
              </a:rPr>
              <a:t>AI + Cloud Native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200"/>
            </a:pPr>
            <a:r>
              <a:rPr sz="2200" dirty="0">
                <a:solidFill>
                  <a:srgbClr val="FFFFFF"/>
                </a:solidFill>
              </a:rPr>
              <a:t>• Kubernetes is becoming the AI platform</a:t>
            </a:r>
          </a:p>
          <a:p>
            <a:pPr marL="0" indent="0">
              <a:buNone/>
              <a:defRPr sz="2200"/>
            </a:pPr>
            <a:r>
              <a:rPr sz="2200" dirty="0">
                <a:solidFill>
                  <a:srgbClr val="FFFFFF"/>
                </a:solidFill>
              </a:rPr>
              <a:t>• DGX GPU clusters</a:t>
            </a:r>
          </a:p>
          <a:p>
            <a:pPr marL="0" indent="0">
              <a:buNone/>
              <a:defRPr sz="2200"/>
            </a:pPr>
            <a:r>
              <a:rPr sz="2200" dirty="0">
                <a:solidFill>
                  <a:srgbClr val="FFFFFF"/>
                </a:solidFill>
              </a:rPr>
              <a:t>• Production AI workloads</a:t>
            </a:r>
          </a:p>
          <a:p>
            <a:pPr marL="0" indent="0">
              <a:buNone/>
              <a:defRPr sz="2200"/>
            </a:pPr>
            <a:r>
              <a:rPr sz="2200" dirty="0">
                <a:solidFill>
                  <a:srgbClr val="FFFFFF"/>
                </a:solidFill>
              </a:rPr>
              <a:t>• AI infrastructure at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30000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>
                <a:solidFill>
                  <a:srgbClr val="FFFFFF"/>
                </a:solidFill>
              </a:rPr>
              <a:t>Production LLM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sz="2200" dirty="0">
                <a:solidFill>
                  <a:srgbClr val="FFFFFF"/>
                </a:solidFill>
              </a:rPr>
              <a:t>User → API Gateway → </a:t>
            </a:r>
            <a:r>
              <a:rPr sz="2200" dirty="0" err="1">
                <a:solidFill>
                  <a:srgbClr val="FFFFFF"/>
                </a:solidFill>
              </a:rPr>
              <a:t>KServe</a:t>
            </a:r>
            <a:r>
              <a:rPr sz="2200" dirty="0">
                <a:solidFill>
                  <a:srgbClr val="FFFFFF"/>
                </a:solidFill>
              </a:rPr>
              <a:t> → </a:t>
            </a:r>
            <a:r>
              <a:rPr sz="2200" dirty="0" err="1">
                <a:solidFill>
                  <a:srgbClr val="FFFFFF"/>
                </a:solidFill>
              </a:rPr>
              <a:t>vLLM</a:t>
            </a:r>
            <a:r>
              <a:rPr sz="2200" dirty="0">
                <a:solidFill>
                  <a:srgbClr val="FFFFFF"/>
                </a:solidFill>
              </a:rPr>
              <a:t>/Triton → LLM → GPU</a:t>
            </a:r>
          </a:p>
          <a:p>
            <a:pPr>
              <a:defRPr sz="2200"/>
            </a:pPr>
            <a:endParaRPr dirty="0"/>
          </a:p>
          <a:p>
            <a:pPr marL="0" indent="0">
              <a:buNone/>
              <a:defRPr sz="2200"/>
            </a:pPr>
            <a:r>
              <a:rPr sz="2200" dirty="0">
                <a:solidFill>
                  <a:srgbClr val="FFFFFF"/>
                </a:solidFill>
              </a:rPr>
              <a:t>Key topics:</a:t>
            </a:r>
          </a:p>
          <a:p>
            <a:pPr marL="0" indent="0">
              <a:buNone/>
              <a:defRPr sz="2200"/>
            </a:pPr>
            <a:r>
              <a:rPr sz="2200" dirty="0">
                <a:solidFill>
                  <a:srgbClr val="FFFFFF"/>
                </a:solidFill>
              </a:rPr>
              <a:t>• Efficient inference</a:t>
            </a:r>
          </a:p>
          <a:p>
            <a:pPr marL="0" indent="0">
              <a:buNone/>
              <a:defRPr sz="2200"/>
            </a:pPr>
            <a:r>
              <a:rPr sz="2200" dirty="0">
                <a:solidFill>
                  <a:srgbClr val="FFFFFF"/>
                </a:solidFill>
              </a:rPr>
              <a:t>• GPU utilization</a:t>
            </a:r>
          </a:p>
          <a:p>
            <a:pPr marL="0" indent="0">
              <a:buNone/>
              <a:defRPr sz="2200"/>
            </a:pPr>
            <a:r>
              <a:rPr sz="2200" dirty="0">
                <a:solidFill>
                  <a:srgbClr val="FFFFFF"/>
                </a:solidFill>
              </a:rPr>
              <a:t>• Scalability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30000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>
                <a:solidFill>
                  <a:srgbClr val="FFFFFF"/>
                </a:solidFill>
              </a:rPr>
              <a:t>Platform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200"/>
            </a:pPr>
            <a:r>
              <a:rPr sz="2200" dirty="0">
                <a:solidFill>
                  <a:srgbClr val="FFFFFF"/>
                </a:solidFill>
              </a:rPr>
              <a:t>• Reduce infrastructure complexity</a:t>
            </a:r>
          </a:p>
          <a:p>
            <a:pPr marL="0" indent="0">
              <a:buNone/>
              <a:defRPr sz="2200"/>
            </a:pPr>
            <a:r>
              <a:rPr sz="2200" dirty="0">
                <a:solidFill>
                  <a:srgbClr val="FFFFFF"/>
                </a:solidFill>
              </a:rPr>
              <a:t>• Improve developer experience</a:t>
            </a:r>
          </a:p>
          <a:p>
            <a:pPr marL="0" indent="0">
              <a:buNone/>
              <a:defRPr sz="2200"/>
            </a:pPr>
            <a:r>
              <a:rPr sz="2200" dirty="0">
                <a:solidFill>
                  <a:srgbClr val="FFFFFF"/>
                </a:solidFill>
              </a:rPr>
              <a:t>• Enable self-service platforms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30000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>
                <a:solidFill>
                  <a:srgbClr val="FFFFFF"/>
                </a:solidFill>
              </a:rPr>
              <a:t>Crossplane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sz="2200" dirty="0">
                <a:solidFill>
                  <a:srgbClr val="FFFFFF"/>
                </a:solidFill>
              </a:rPr>
              <a:t>Developer → </a:t>
            </a:r>
            <a:r>
              <a:rPr sz="2200" dirty="0" err="1">
                <a:solidFill>
                  <a:srgbClr val="FFFFFF"/>
                </a:solidFill>
              </a:rPr>
              <a:t>Crossplane</a:t>
            </a:r>
            <a:r>
              <a:rPr sz="2200" dirty="0">
                <a:solidFill>
                  <a:srgbClr val="FFFFFF"/>
                </a:solidFill>
              </a:rPr>
              <a:t> → Cloud Resources</a:t>
            </a:r>
          </a:p>
          <a:p>
            <a:pPr>
              <a:defRPr sz="2200"/>
            </a:pPr>
            <a:endParaRPr dirty="0"/>
          </a:p>
          <a:p>
            <a:pPr marL="0" indent="0">
              <a:buNone/>
              <a:defRPr sz="2200"/>
            </a:pPr>
            <a:r>
              <a:rPr sz="2200" dirty="0">
                <a:solidFill>
                  <a:srgbClr val="FFFFFF"/>
                </a:solidFill>
              </a:rPr>
              <a:t>• Kubernetes-native infrastructure</a:t>
            </a:r>
          </a:p>
          <a:p>
            <a:pPr marL="0" indent="0">
              <a:buNone/>
              <a:defRPr sz="2200"/>
            </a:pPr>
            <a:r>
              <a:rPr sz="2200" dirty="0">
                <a:solidFill>
                  <a:srgbClr val="FFFFFF"/>
                </a:solidFill>
              </a:rPr>
              <a:t>• Infrastructure as APIs</a:t>
            </a:r>
          </a:p>
          <a:p>
            <a:pPr marL="0" indent="0">
              <a:buNone/>
              <a:defRPr sz="2200"/>
            </a:pPr>
            <a:r>
              <a:rPr sz="2200" dirty="0">
                <a:solidFill>
                  <a:srgbClr val="FFFFFF"/>
                </a:solidFill>
              </a:rPr>
              <a:t>• Multi-cloud provisioning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30000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>
                <a:solidFill>
                  <a:srgbClr val="FFFFFF"/>
                </a:solidFill>
              </a:rPr>
              <a:t>Score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sz="2200" dirty="0">
                <a:solidFill>
                  <a:srgbClr val="FFFFFF"/>
                </a:solidFill>
              </a:rPr>
              <a:t>Developer → </a:t>
            </a:r>
            <a:r>
              <a:rPr sz="2200" dirty="0" err="1">
                <a:solidFill>
                  <a:srgbClr val="FFFFFF"/>
                </a:solidFill>
              </a:rPr>
              <a:t>score.yaml</a:t>
            </a:r>
            <a:r>
              <a:rPr sz="2200" dirty="0">
                <a:solidFill>
                  <a:srgbClr val="FFFFFF"/>
                </a:solidFill>
              </a:rPr>
              <a:t> → Platform generates Kubernetes manifests</a:t>
            </a:r>
          </a:p>
          <a:p>
            <a:pPr>
              <a:defRPr sz="2200"/>
            </a:pPr>
            <a:endParaRPr dirty="0"/>
          </a:p>
          <a:p>
            <a:pPr marL="0" indent="0">
              <a:buNone/>
              <a:defRPr sz="2200"/>
            </a:pPr>
            <a:r>
              <a:rPr sz="2200" dirty="0">
                <a:solidFill>
                  <a:srgbClr val="FFFFFF"/>
                </a:solidFill>
              </a:rPr>
              <a:t>• Focus on application intent</a:t>
            </a:r>
          </a:p>
          <a:p>
            <a:pPr marL="0" indent="0">
              <a:buNone/>
              <a:defRPr sz="2200"/>
            </a:pPr>
            <a:r>
              <a:rPr sz="2200" dirty="0">
                <a:solidFill>
                  <a:srgbClr val="FFFFFF"/>
                </a:solidFill>
              </a:rPr>
              <a:t>• Simplified deployments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30000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>
                <a:solidFill>
                  <a:srgbClr val="FFFFFF"/>
                </a:solidFill>
              </a:rPr>
              <a:t>Policy as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200"/>
            </a:pPr>
            <a:r>
              <a:rPr sz="2200" dirty="0" err="1">
                <a:solidFill>
                  <a:srgbClr val="FFFFFF"/>
                </a:solidFill>
              </a:rPr>
              <a:t>Kyverno</a:t>
            </a:r>
            <a:r>
              <a:rPr sz="2200" dirty="0">
                <a:solidFill>
                  <a:srgbClr val="FFFFFF"/>
                </a:solidFill>
              </a:rPr>
              <a:t>:</a:t>
            </a:r>
          </a:p>
          <a:p>
            <a:pPr marL="0" indent="0">
              <a:buNone/>
              <a:defRPr sz="2200"/>
            </a:pPr>
            <a:r>
              <a:rPr sz="2200" dirty="0">
                <a:solidFill>
                  <a:srgbClr val="FFFFFF"/>
                </a:solidFill>
              </a:rPr>
              <a:t>• Validate</a:t>
            </a:r>
          </a:p>
          <a:p>
            <a:pPr marL="0" indent="0">
              <a:buNone/>
              <a:defRPr sz="2200"/>
            </a:pPr>
            <a:r>
              <a:rPr sz="2200" dirty="0">
                <a:solidFill>
                  <a:srgbClr val="FFFFFF"/>
                </a:solidFill>
              </a:rPr>
              <a:t>• Mutate</a:t>
            </a:r>
          </a:p>
          <a:p>
            <a:pPr marL="0" indent="0">
              <a:buNone/>
              <a:defRPr sz="2200"/>
            </a:pPr>
            <a:r>
              <a:rPr sz="2200" dirty="0">
                <a:solidFill>
                  <a:srgbClr val="FFFFFF"/>
                </a:solidFill>
              </a:rPr>
              <a:t>• Generate</a:t>
            </a:r>
          </a:p>
          <a:p>
            <a:pPr marL="0" indent="0">
              <a:buNone/>
              <a:defRPr sz="2200"/>
            </a:pPr>
            <a:r>
              <a:rPr sz="2200" dirty="0">
                <a:solidFill>
                  <a:srgbClr val="FFFFFF"/>
                </a:solidFill>
              </a:rPr>
              <a:t>• Enforce security and compliance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30000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>
                <a:solidFill>
                  <a:srgbClr val="FFFFFF"/>
                </a:solidFill>
              </a:rPr>
              <a:t>AI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200"/>
            </a:pPr>
            <a:r>
              <a:rPr sz="2200" dirty="0">
                <a:solidFill>
                  <a:srgbClr val="FFFFFF"/>
                </a:solidFill>
              </a:rPr>
              <a:t>• AI agent governance</a:t>
            </a:r>
          </a:p>
          <a:p>
            <a:pPr marL="0" indent="0">
              <a:buNone/>
              <a:defRPr sz="2200"/>
            </a:pPr>
            <a:r>
              <a:rPr sz="2200" dirty="0">
                <a:solidFill>
                  <a:srgbClr val="FFFFFF"/>
                </a:solidFill>
              </a:rPr>
              <a:t>• Secure prompts</a:t>
            </a:r>
          </a:p>
          <a:p>
            <a:pPr marL="0" indent="0">
              <a:buNone/>
              <a:defRPr sz="2200"/>
            </a:pPr>
            <a:r>
              <a:rPr sz="2200" dirty="0">
                <a:solidFill>
                  <a:srgbClr val="FFFFFF"/>
                </a:solidFill>
              </a:rPr>
              <a:t>• Policy enforcement</a:t>
            </a:r>
          </a:p>
          <a:p>
            <a:pPr marL="0" indent="0">
              <a:buNone/>
              <a:defRPr sz="2200"/>
            </a:pPr>
            <a:r>
              <a:rPr sz="2200" dirty="0">
                <a:solidFill>
                  <a:srgbClr val="FFFFFF"/>
                </a:solidFill>
              </a:rPr>
              <a:t>• Safe AI workflows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30000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>
                <a:solidFill>
                  <a:srgbClr val="FFFFFF"/>
                </a:solidFill>
              </a:rPr>
              <a:t>Chaos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200"/>
            </a:pPr>
            <a:r>
              <a:rPr sz="2200" dirty="0" err="1">
                <a:solidFill>
                  <a:srgbClr val="FFFFFF"/>
                </a:solidFill>
              </a:rPr>
              <a:t>LitmusChaos</a:t>
            </a:r>
            <a:r>
              <a:rPr sz="2200" dirty="0">
                <a:solidFill>
                  <a:srgbClr val="FFFFFF"/>
                </a:solidFill>
              </a:rPr>
              <a:t>:</a:t>
            </a:r>
          </a:p>
          <a:p>
            <a:pPr marL="0" indent="0">
              <a:buNone/>
              <a:defRPr sz="2200"/>
            </a:pPr>
            <a:r>
              <a:rPr sz="2200" dirty="0">
                <a:solidFill>
                  <a:srgbClr val="FFFFFF"/>
                </a:solidFill>
              </a:rPr>
              <a:t>• Inject failures</a:t>
            </a:r>
          </a:p>
          <a:p>
            <a:pPr marL="0" indent="0">
              <a:buNone/>
              <a:defRPr sz="2200"/>
            </a:pPr>
            <a:r>
              <a:rPr sz="2200" dirty="0">
                <a:solidFill>
                  <a:srgbClr val="FFFFFF"/>
                </a:solidFill>
              </a:rPr>
              <a:t>• Observe behavior</a:t>
            </a:r>
          </a:p>
          <a:p>
            <a:pPr marL="0" indent="0">
              <a:buNone/>
              <a:defRPr sz="2200"/>
            </a:pPr>
            <a:r>
              <a:rPr sz="2200" dirty="0">
                <a:solidFill>
                  <a:srgbClr val="FFFFFF"/>
                </a:solidFill>
              </a:rPr>
              <a:t>• Improve resilience</a:t>
            </a:r>
          </a:p>
          <a:p>
            <a:pPr marL="0" indent="0">
              <a:buNone/>
              <a:defRPr sz="2200"/>
            </a:pPr>
            <a:r>
              <a:rPr sz="2200" dirty="0">
                <a:solidFill>
                  <a:srgbClr val="FFFFFF"/>
                </a:solidFill>
              </a:rPr>
              <a:t>• Increase confidence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30000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>
                <a:solidFill>
                  <a:srgbClr val="FFFFFF"/>
                </a:solidFill>
              </a:rPr>
              <a:t>Industry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sz="2200">
                <a:solidFill>
                  <a:srgbClr val="FFFFFF"/>
                </a:solidFill>
              </a:rPr>
              <a:t>2022: Containers</a:t>
            </a:r>
          </a:p>
          <a:p>
            <a:pPr>
              <a:defRPr sz="2200"/>
            </a:pPr>
            <a:r>
              <a:rPr sz="2200">
                <a:solidFill>
                  <a:srgbClr val="FFFFFF"/>
                </a:solidFill>
              </a:rPr>
              <a:t>2023: Platform Engineering</a:t>
            </a:r>
          </a:p>
          <a:p>
            <a:pPr>
              <a:defRPr sz="2200"/>
            </a:pPr>
            <a:r>
              <a:rPr sz="2200">
                <a:solidFill>
                  <a:srgbClr val="FFFFFF"/>
                </a:solidFill>
              </a:rPr>
              <a:t>2024: GitOps</a:t>
            </a:r>
          </a:p>
          <a:p>
            <a:pPr>
              <a:defRPr sz="2200"/>
            </a:pPr>
            <a:r>
              <a:rPr sz="2200">
                <a:solidFill>
                  <a:srgbClr val="FFFFFF"/>
                </a:solidFill>
              </a:rPr>
              <a:t>2025: AI</a:t>
            </a:r>
          </a:p>
          <a:p>
            <a:pPr>
              <a:defRPr sz="2200"/>
            </a:pPr>
            <a:r>
              <a:rPr sz="2200">
                <a:solidFill>
                  <a:srgbClr val="FFFFFF"/>
                </a:solidFill>
              </a:rPr>
              <a:t>2026: AI Infrastructure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30000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>
                <a:solidFill>
                  <a:srgbClr val="FFFFFF"/>
                </a:solidFill>
              </a:rPr>
              <a:t>Top 10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sz="2200">
                <a:solidFill>
                  <a:srgbClr val="FFFFFF"/>
                </a:solidFill>
              </a:rPr>
              <a:t>1. Kubernetes powers AI</a:t>
            </a:r>
          </a:p>
          <a:p>
            <a:pPr>
              <a:defRPr sz="2200"/>
            </a:pPr>
            <a:r>
              <a:rPr sz="2200">
                <a:solidFill>
                  <a:srgbClr val="FFFFFF"/>
                </a:solidFill>
              </a:rPr>
              <a:t>2. LLM inference is production-ready</a:t>
            </a:r>
          </a:p>
          <a:p>
            <a:pPr>
              <a:defRPr sz="2200"/>
            </a:pPr>
            <a:r>
              <a:rPr sz="2200">
                <a:solidFill>
                  <a:srgbClr val="FFFFFF"/>
                </a:solidFill>
              </a:rPr>
              <a:t>3. GPUs are strategic resources</a:t>
            </a:r>
          </a:p>
          <a:p>
            <a:pPr>
              <a:defRPr sz="2200"/>
            </a:pPr>
            <a:r>
              <a:rPr sz="2200">
                <a:solidFill>
                  <a:srgbClr val="FFFFFF"/>
                </a:solidFill>
              </a:rPr>
              <a:t>4. Platform Engineering is mainstream</a:t>
            </a:r>
          </a:p>
          <a:p>
            <a:pPr>
              <a:defRPr sz="2200"/>
            </a:pPr>
            <a:r>
              <a:rPr sz="2200">
                <a:solidFill>
                  <a:srgbClr val="FFFFFF"/>
                </a:solidFill>
              </a:rPr>
              <a:t>5. IDPs simplify development</a:t>
            </a:r>
          </a:p>
          <a:p>
            <a:pPr>
              <a:defRPr sz="2200"/>
            </a:pPr>
            <a:r>
              <a:rPr sz="2200">
                <a:solidFill>
                  <a:srgbClr val="FFFFFF"/>
                </a:solidFill>
              </a:rPr>
              <a:t>6. Policy as Code is essential</a:t>
            </a:r>
          </a:p>
          <a:p>
            <a:pPr>
              <a:defRPr sz="2200"/>
            </a:pPr>
            <a:r>
              <a:rPr sz="2200">
                <a:solidFill>
                  <a:srgbClr val="FFFFFF"/>
                </a:solidFill>
              </a:rPr>
              <a:t>7. Security shifts left</a:t>
            </a:r>
          </a:p>
          <a:p>
            <a:pPr>
              <a:defRPr sz="2200"/>
            </a:pPr>
            <a:r>
              <a:rPr sz="2200">
                <a:solidFill>
                  <a:srgbClr val="FFFFFF"/>
                </a:solidFill>
              </a:rPr>
              <a:t>8. Chaos Engineering builds confidence</a:t>
            </a:r>
          </a:p>
          <a:p>
            <a:pPr>
              <a:defRPr sz="2200"/>
            </a:pPr>
            <a:r>
              <a:rPr sz="2200">
                <a:solidFill>
                  <a:srgbClr val="FFFFFF"/>
                </a:solidFill>
              </a:rPr>
              <a:t>9. Open source accelerates AI</a:t>
            </a:r>
          </a:p>
          <a:p>
            <a:pPr>
              <a:defRPr sz="2200"/>
            </a:pPr>
            <a:r>
              <a:rPr sz="2200">
                <a:solidFill>
                  <a:srgbClr val="FFFFFF"/>
                </a:solidFill>
              </a:rPr>
              <a:t>10. Community drives innovation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30000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>
                <a:solidFill>
                  <a:srgbClr val="FFFFFF"/>
                </a:solidFill>
              </a:rPr>
              <a:t>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200"/>
            </a:pPr>
            <a:r>
              <a:rPr sz="2200" dirty="0">
                <a:solidFill>
                  <a:srgbClr val="FFFFFF"/>
                </a:solidFill>
              </a:rPr>
              <a:t>• CNCF</a:t>
            </a:r>
          </a:p>
          <a:p>
            <a:pPr marL="0" indent="0">
              <a:buNone/>
              <a:defRPr sz="2200"/>
            </a:pPr>
            <a:r>
              <a:rPr sz="2200" dirty="0">
                <a:solidFill>
                  <a:srgbClr val="FFFFFF"/>
                </a:solidFill>
              </a:rPr>
              <a:t>• </a:t>
            </a:r>
            <a:r>
              <a:rPr sz="2200" dirty="0" err="1">
                <a:solidFill>
                  <a:srgbClr val="FFFFFF"/>
                </a:solidFill>
              </a:rPr>
              <a:t>KubeCon</a:t>
            </a:r>
            <a:r>
              <a:rPr sz="2200" dirty="0">
                <a:solidFill>
                  <a:srgbClr val="FFFFFF"/>
                </a:solidFill>
              </a:rPr>
              <a:t> talks</a:t>
            </a:r>
          </a:p>
          <a:p>
            <a:pPr marL="0" indent="0">
              <a:buNone/>
              <a:defRPr sz="2200"/>
            </a:pPr>
            <a:r>
              <a:rPr sz="2200" dirty="0">
                <a:solidFill>
                  <a:srgbClr val="FFFFFF"/>
                </a:solidFill>
              </a:rPr>
              <a:t>• </a:t>
            </a:r>
            <a:r>
              <a:rPr sz="2200" dirty="0" err="1">
                <a:solidFill>
                  <a:srgbClr val="FFFFFF"/>
                </a:solidFill>
              </a:rPr>
              <a:t>vLLM</a:t>
            </a:r>
            <a:endParaRPr dirty="0"/>
          </a:p>
          <a:p>
            <a:pPr marL="0" indent="0">
              <a:buNone/>
              <a:defRPr sz="2200"/>
            </a:pPr>
            <a:r>
              <a:rPr sz="2200" dirty="0">
                <a:solidFill>
                  <a:srgbClr val="FFFFFF"/>
                </a:solidFill>
              </a:rPr>
              <a:t>• </a:t>
            </a:r>
            <a:r>
              <a:rPr sz="2200" dirty="0" err="1">
                <a:solidFill>
                  <a:srgbClr val="FFFFFF"/>
                </a:solidFill>
              </a:rPr>
              <a:t>KServe</a:t>
            </a:r>
            <a:endParaRPr dirty="0"/>
          </a:p>
          <a:p>
            <a:pPr marL="0" indent="0">
              <a:buNone/>
              <a:defRPr sz="2200"/>
            </a:pPr>
            <a:r>
              <a:rPr sz="2200" dirty="0">
                <a:solidFill>
                  <a:srgbClr val="FFFFFF"/>
                </a:solidFill>
              </a:rPr>
              <a:t>• </a:t>
            </a:r>
            <a:r>
              <a:rPr sz="2200" dirty="0" err="1">
                <a:solidFill>
                  <a:srgbClr val="FFFFFF"/>
                </a:solidFill>
              </a:rPr>
              <a:t>Crossplane</a:t>
            </a:r>
            <a:endParaRPr dirty="0"/>
          </a:p>
          <a:p>
            <a:pPr marL="0" indent="0">
              <a:buNone/>
              <a:defRPr sz="2200"/>
            </a:pPr>
            <a:r>
              <a:rPr sz="2200" dirty="0">
                <a:solidFill>
                  <a:srgbClr val="FFFFFF"/>
                </a:solidFill>
              </a:rPr>
              <a:t>• </a:t>
            </a:r>
            <a:r>
              <a:rPr sz="2200" dirty="0" err="1">
                <a:solidFill>
                  <a:srgbClr val="FFFFFF"/>
                </a:solidFill>
              </a:rPr>
              <a:t>Kyverno</a:t>
            </a:r>
            <a:endParaRPr dirty="0"/>
          </a:p>
          <a:p>
            <a:pPr marL="0" indent="0">
              <a:buNone/>
              <a:defRPr sz="2200"/>
            </a:pPr>
            <a:r>
              <a:rPr sz="2200" dirty="0">
                <a:solidFill>
                  <a:srgbClr val="FFFFFF"/>
                </a:solidFill>
              </a:rPr>
              <a:t>• </a:t>
            </a:r>
            <a:r>
              <a:rPr sz="2200" dirty="0" err="1">
                <a:solidFill>
                  <a:srgbClr val="FFFFFF"/>
                </a:solidFill>
              </a:rPr>
              <a:t>LitmusChaos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30000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sz="2200">
                <a:solidFill>
                  <a:srgbClr val="FFFFFF"/>
                </a:solidFill>
              </a:rPr>
              <a:t>Questions &amp; Discussion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30000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3949</TotalTime>
  <Words>330</Words>
  <Application>Microsoft Macintosh PowerPoint</Application>
  <PresentationFormat>On-screen Show (4:3)</PresentationFormat>
  <Paragraphs>95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KubeCon India 2026 Highlights</vt:lpstr>
      <vt:lpstr>Agenda</vt:lpstr>
      <vt:lpstr>What is KubeCon?</vt:lpstr>
      <vt:lpstr>PowerPoint Presentation</vt:lpstr>
      <vt:lpstr>Biggest Themes</vt:lpstr>
      <vt:lpstr>AI + Cloud Native</vt:lpstr>
      <vt:lpstr>Production LLM Stack</vt:lpstr>
      <vt:lpstr>Platform Engineering</vt:lpstr>
      <vt:lpstr>Crossplane</vt:lpstr>
      <vt:lpstr>Score</vt:lpstr>
      <vt:lpstr>Policy as Code</vt:lpstr>
      <vt:lpstr>AI Security</vt:lpstr>
      <vt:lpstr>Chaos Engineering</vt:lpstr>
      <vt:lpstr>Industry Trends</vt:lpstr>
      <vt:lpstr>Top 10 Takeaways</vt:lpstr>
      <vt:lpstr>Resources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Jaydipsinh Jadeja</cp:lastModifiedBy>
  <cp:revision>5</cp:revision>
  <dcterms:created xsi:type="dcterms:W3CDTF">2013-01-27T09:14:16Z</dcterms:created>
  <dcterms:modified xsi:type="dcterms:W3CDTF">2026-07-06T09:08:10Z</dcterms:modified>
  <cp:category/>
</cp:coreProperties>
</file>